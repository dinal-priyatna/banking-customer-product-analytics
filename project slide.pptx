
<file path=[Content_Types].xml><?xml version="1.0" encoding="utf-8"?>
<Types xmlns="http://schemas.openxmlformats.org/package/2006/content-types">
  <Default Extension="1" ContentType="image/jpeg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61" r:id="rId12"/>
    <p:sldId id="262" r:id="rId13"/>
    <p:sldId id="263" r:id="rId14"/>
  </p:sldIdLst>
  <p:sldSz cx="9144000" cy="5143500" type="screen16x9"/>
  <p:notesSz cx="6858000" cy="9144000"/>
  <p:embeddedFontLst>
    <p:embeddedFont>
      <p:font typeface="Rubik" panose="020B0604020202020204" charset="-79"/>
      <p:regular r:id="rId16"/>
      <p:bold r:id="rId17"/>
      <p:italic r:id="rId18"/>
      <p:boldItalic r:id="rId19"/>
    </p:embeddedFont>
    <p:embeddedFont>
      <p:font typeface="Rubik Light" panose="020B0604020202020204" charset="-79"/>
      <p:regular r:id="rId20"/>
      <p:bold r:id="rId21"/>
      <p:italic r:id="rId22"/>
      <p:boldItalic r:id="rId23"/>
    </p:embeddedFont>
    <p:embeddedFont>
      <p:font typeface="Rubik Medium" panose="020B0604020202020204" charset="-79"/>
      <p:regular r:id="rId24"/>
      <p:bold r:id="rId25"/>
      <p:italic r:id="rId26"/>
      <p:boldItalic r:id="rId27"/>
    </p:embeddedFont>
    <p:embeddedFont>
      <p:font typeface="Rubik SemiBold" panose="020B0604020202020204" charset="-79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56d9b0f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56d9b0f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00da5092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00da5092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876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27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0da5092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00da5092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1006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655c8f53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2655c8f53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00da5092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200da5092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00da5092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00da5092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goodfreephotos.com/business-and-technology/laptop-screen-with-analytics-and-notebook.jpg.php" TargetMode="Externa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rawpixel.com/search/asking" TargetMode="External"/><Relationship Id="rId5" Type="http://schemas.openxmlformats.org/officeDocument/2006/relationships/image" Target="../media/image7.1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pixabay.com/en/graph-pie-chart-business-finance-963016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analyticsinsight.net/artificial-intelligence/best-ai-competitor-analysis-tools-in-2025-top-10-picks" TargetMode="External"/><Relationship Id="rId5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17900" y="1336613"/>
            <a:ext cx="5744677" cy="104641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Customer &amp; Product Performance Dashboard for Banking Analytics</a:t>
            </a:r>
            <a:endParaRPr sz="2800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7900" y="2474269"/>
            <a:ext cx="4392000" cy="80018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PBI-Businnes Intellegen Analyst Bank Muamalat</a:t>
            </a:r>
            <a:endParaRPr sz="2000" dirty="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17900" y="3825548"/>
            <a:ext cx="4392000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Dinal</a:t>
            </a:r>
            <a:r>
              <a:rPr lang="en-GB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 </a:t>
            </a:r>
            <a:r>
              <a:rPr lang="en-GB" sz="2000" dirty="0" err="1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Priyatna</a:t>
            </a:r>
            <a:endParaRPr sz="2000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32C713-F5B8-4C63-A40D-2A9A4B642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774" y="256951"/>
            <a:ext cx="1655376" cy="467644"/>
          </a:xfrm>
          <a:prstGeom prst="rect">
            <a:avLst/>
          </a:prstGeom>
        </p:spPr>
      </p:pic>
      <p:sp>
        <p:nvSpPr>
          <p:cNvPr id="17" name="Google Shape;60;p13">
            <a:extLst>
              <a:ext uri="{FF2B5EF4-FFF2-40B4-BE49-F238E27FC236}">
                <a16:creationId xmlns:a16="http://schemas.microsoft.com/office/drawing/2014/main" id="{1BBDD039-E6FA-4EB7-81BB-8894A4CB1CE2}"/>
              </a:ext>
            </a:extLst>
          </p:cNvPr>
          <p:cNvSpPr txBox="1"/>
          <p:nvPr/>
        </p:nvSpPr>
        <p:spPr>
          <a:xfrm>
            <a:off x="517900" y="3210025"/>
            <a:ext cx="4392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Data Analytics Portfolio Project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Tools: SQL • </a:t>
            </a:r>
            <a:r>
              <a:rPr lang="en-US" dirty="0" err="1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BigQuery</a:t>
            </a:r>
            <a:r>
              <a:rPr lang="en-US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 • Looker Studio</a:t>
            </a:r>
            <a:endParaRPr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13212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8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1779500" y="1020388"/>
            <a:ext cx="20016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Rubik SemiBold"/>
                <a:ea typeface="Rubik SemiBold"/>
                <a:cs typeface="Rubik SemiBold"/>
                <a:sym typeface="Rubik SemiBold"/>
              </a:rPr>
              <a:t>Dinal Priyatna</a:t>
            </a:r>
            <a:endParaRPr sz="3000" dirty="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37850" y="2488999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About Me</a:t>
            </a:r>
            <a:endParaRPr sz="2000" dirty="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Experience</a:t>
            </a:r>
            <a:endParaRPr sz="2000" dirty="0"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095575" y="1848125"/>
            <a:ext cx="28500" cy="991800"/>
          </a:xfrm>
          <a:prstGeom prst="rect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000625" y="1716050"/>
            <a:ext cx="218400" cy="218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000625" y="2800350"/>
            <a:ext cx="218400" cy="218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294775" y="1625150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ubik"/>
                <a:ea typeface="Rubik"/>
                <a:cs typeface="Rubik"/>
                <a:sym typeface="Rubik"/>
              </a:rPr>
              <a:t>Experience 1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294775" y="2709450"/>
            <a:ext cx="374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Experience 2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537850" y="2908653"/>
            <a:ext cx="37401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D" sz="1200" dirty="0" err="1"/>
              <a:t>Lulusan</a:t>
            </a:r>
            <a:r>
              <a:rPr lang="en-ID" sz="1200" dirty="0"/>
              <a:t> S1 Pendidikan </a:t>
            </a:r>
            <a:r>
              <a:rPr lang="en-ID" sz="1200" dirty="0" err="1"/>
              <a:t>Matematika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minat</a:t>
            </a:r>
            <a:r>
              <a:rPr lang="en-ID" sz="1200" dirty="0"/>
              <a:t> </a:t>
            </a:r>
            <a:r>
              <a:rPr lang="en-ID" sz="1200" dirty="0" err="1"/>
              <a:t>kuat</a:t>
            </a:r>
            <a:r>
              <a:rPr lang="en-ID" sz="1200" dirty="0"/>
              <a:t> di </a:t>
            </a:r>
            <a:r>
              <a:rPr lang="en-ID" sz="1200" dirty="0" err="1"/>
              <a:t>bidang</a:t>
            </a:r>
            <a:r>
              <a:rPr lang="en-ID" sz="1200" dirty="0"/>
              <a:t> </a:t>
            </a:r>
            <a:r>
              <a:rPr lang="en-ID" sz="1200" dirty="0" err="1"/>
              <a:t>analisis</a:t>
            </a:r>
            <a:r>
              <a:rPr lang="en-ID" sz="1200" dirty="0"/>
              <a:t> data. </a:t>
            </a:r>
            <a:r>
              <a:rPr lang="en-ID" sz="1200" dirty="0" err="1"/>
              <a:t>Terampil</a:t>
            </a:r>
            <a:r>
              <a:rPr lang="en-ID" sz="1200" dirty="0"/>
              <a:t> </a:t>
            </a:r>
            <a:r>
              <a:rPr lang="en-ID" sz="1200" dirty="0" err="1"/>
              <a:t>mengolah</a:t>
            </a:r>
            <a:r>
              <a:rPr lang="en-ID" sz="1200" dirty="0"/>
              <a:t>, </a:t>
            </a:r>
            <a:r>
              <a:rPr lang="en-ID" sz="1200" dirty="0" err="1"/>
              <a:t>menganalisis</a:t>
            </a:r>
            <a:r>
              <a:rPr lang="en-ID" sz="1200" dirty="0"/>
              <a:t>, dan </a:t>
            </a:r>
            <a:r>
              <a:rPr lang="en-ID" sz="1200" dirty="0" err="1"/>
              <a:t>memvisualisasikan</a:t>
            </a:r>
            <a:r>
              <a:rPr lang="en-ID" sz="1200" dirty="0"/>
              <a:t> data </a:t>
            </a:r>
            <a:r>
              <a:rPr lang="en-ID" sz="1200" dirty="0" err="1"/>
              <a:t>menggunakan</a:t>
            </a:r>
            <a:r>
              <a:rPr lang="en-ID" sz="1200" dirty="0"/>
              <a:t> Excel, SQL, Python, </a:t>
            </a:r>
            <a:r>
              <a:rPr lang="en-ID" sz="1200" dirty="0" err="1"/>
              <a:t>serta</a:t>
            </a:r>
            <a:r>
              <a:rPr lang="en-ID" sz="1200" dirty="0"/>
              <a:t> Looker Studio/Tableau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menghasilkan</a:t>
            </a:r>
            <a:r>
              <a:rPr lang="en-ID" sz="1200" dirty="0"/>
              <a:t> insight yang </a:t>
            </a:r>
            <a:r>
              <a:rPr lang="en-ID" sz="1200" dirty="0" err="1"/>
              <a:t>mendukung</a:t>
            </a:r>
            <a:r>
              <a:rPr lang="en-ID" sz="1200" dirty="0"/>
              <a:t> </a:t>
            </a:r>
            <a:r>
              <a:rPr lang="en-ID" sz="1200" dirty="0" err="1"/>
              <a:t>pengambilan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bisnis</a:t>
            </a:r>
            <a:r>
              <a:rPr lang="en-ID" sz="1200" dirty="0"/>
              <a:t>.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semangat</a:t>
            </a:r>
            <a:r>
              <a:rPr lang="en-ID" sz="1200" dirty="0"/>
              <a:t> </a:t>
            </a:r>
            <a:r>
              <a:rPr lang="en-ID" sz="1200" dirty="0" err="1"/>
              <a:t>belajar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dan </a:t>
            </a:r>
            <a:r>
              <a:rPr lang="en-ID" sz="1200" dirty="0" err="1"/>
              <a:t>berkomitmen</a:t>
            </a:r>
            <a:r>
              <a:rPr lang="en-ID" sz="1200" dirty="0"/>
              <a:t> </a:t>
            </a:r>
            <a:r>
              <a:rPr lang="en-ID" sz="1200" dirty="0" err="1"/>
              <a:t>berkembang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data analyst yang </a:t>
            </a:r>
            <a:r>
              <a:rPr lang="en-ID" sz="1200" dirty="0" err="1"/>
              <a:t>memberikan</a:t>
            </a:r>
            <a:r>
              <a:rPr lang="en-ID" sz="1200" dirty="0"/>
              <a:t> </a:t>
            </a:r>
            <a:r>
              <a:rPr lang="en-ID" sz="1200" dirty="0" err="1"/>
              <a:t>dampak</a:t>
            </a:r>
            <a:r>
              <a:rPr lang="en-ID" sz="1200" dirty="0"/>
              <a:t> </a:t>
            </a:r>
            <a:r>
              <a:rPr lang="en-ID" sz="1200" dirty="0" err="1"/>
              <a:t>nyata</a:t>
            </a:r>
            <a:r>
              <a:rPr lang="en-ID" sz="1200" dirty="0"/>
              <a:t>.</a:t>
            </a:r>
            <a:endParaRPr lang="en-ID" sz="12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2BC8B-DB31-40B3-81AC-091F05E1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88" y="779424"/>
            <a:ext cx="1044450" cy="1424250"/>
          </a:xfrm>
          <a:prstGeom prst="rect">
            <a:avLst/>
          </a:prstGeom>
        </p:spPr>
      </p:pic>
      <p:sp>
        <p:nvSpPr>
          <p:cNvPr id="21" name="Google Shape;86;p15">
            <a:extLst>
              <a:ext uri="{FF2B5EF4-FFF2-40B4-BE49-F238E27FC236}">
                <a16:creationId xmlns:a16="http://schemas.microsoft.com/office/drawing/2014/main" id="{D9395CB0-1759-4385-A69E-8A53B941CBCD}"/>
              </a:ext>
            </a:extLst>
          </p:cNvPr>
          <p:cNvSpPr txBox="1"/>
          <p:nvPr/>
        </p:nvSpPr>
        <p:spPr>
          <a:xfrm>
            <a:off x="5294775" y="1957125"/>
            <a:ext cx="37401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ubik"/>
                <a:ea typeface="Rubik"/>
                <a:cs typeface="Rubik"/>
                <a:sym typeface="Rubik"/>
              </a:rPr>
              <a:t>Tecnichal Support- CV Rodah Jaya Persada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ubik"/>
                <a:ea typeface="Rubik"/>
                <a:cs typeface="Rubik"/>
                <a:sym typeface="Rubik"/>
              </a:rPr>
              <a:t>(2021-2026)</a:t>
            </a:r>
          </a:p>
        </p:txBody>
      </p:sp>
      <p:sp>
        <p:nvSpPr>
          <p:cNvPr id="22" name="Google Shape;86;p15">
            <a:extLst>
              <a:ext uri="{FF2B5EF4-FFF2-40B4-BE49-F238E27FC236}">
                <a16:creationId xmlns:a16="http://schemas.microsoft.com/office/drawing/2014/main" id="{68B18B0A-84E9-47FF-8419-D2DF2ACAD1B1}"/>
              </a:ext>
            </a:extLst>
          </p:cNvPr>
          <p:cNvSpPr txBox="1"/>
          <p:nvPr/>
        </p:nvSpPr>
        <p:spPr>
          <a:xfrm>
            <a:off x="5320689" y="3031023"/>
            <a:ext cx="37401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200" dirty="0">
                <a:latin typeface="Rubik"/>
                <a:ea typeface="Rubik"/>
                <a:cs typeface="Rubik"/>
                <a:sym typeface="Rubik"/>
              </a:rPr>
              <a:t>Data Analyst Cource – Growia Education</a:t>
            </a:r>
          </a:p>
          <a:p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M</a:t>
            </a:r>
            <a:r>
              <a:rPr lang="en" sz="1200" dirty="0">
                <a:latin typeface="Rubik"/>
                <a:ea typeface="Rubik"/>
                <a:cs typeface="Rubik"/>
                <a:sym typeface="Rubik"/>
              </a:rPr>
              <a:t>art – Okct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596619" y="1038409"/>
            <a:ext cx="3253305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/>
              <a:t>Business Context</a:t>
            </a:r>
            <a:endParaRPr sz="28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766739" y="1802788"/>
            <a:ext cx="4475111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D" dirty="0"/>
              <a:t>Bank </a:t>
            </a:r>
            <a:r>
              <a:rPr lang="en-ID" dirty="0" err="1"/>
              <a:t>membutuhkan</a:t>
            </a:r>
            <a:r>
              <a:rPr lang="en-ID" dirty="0"/>
              <a:t> dashboard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Monitoring </a:t>
            </a:r>
            <a:r>
              <a:rPr lang="en-ID" dirty="0" err="1"/>
              <a:t>transaksi</a:t>
            </a:r>
            <a:r>
              <a:rPr lang="en-ID" dirty="0"/>
              <a:t> &amp;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data </a:t>
            </a:r>
          </a:p>
          <a:p>
            <a:endParaRPr lang="en-ID" dirty="0"/>
          </a:p>
          <a:p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data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raw data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dianalisis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oleh stakeholder.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453F6B-C86C-42C9-96EF-B7B614FFF5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b="14065"/>
          <a:stretch/>
        </p:blipFill>
        <p:spPr>
          <a:xfrm>
            <a:off x="5445990" y="1653932"/>
            <a:ext cx="3101391" cy="2078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766739" y="1001640"/>
            <a:ext cx="4475112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/>
              <a:t>Key Business Questions</a:t>
            </a:r>
            <a:endParaRPr sz="28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766739" y="1802788"/>
            <a:ext cx="4475111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D" dirty="0"/>
              <a:t>Dashboard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:</a:t>
            </a:r>
          </a:p>
          <a:p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menghasilkan</a:t>
            </a:r>
            <a:r>
              <a:rPr lang="en-ID" dirty="0"/>
              <a:t> revenue </a:t>
            </a:r>
            <a:r>
              <a:rPr lang="en-ID" dirty="0" err="1"/>
              <a:t>tertinggi</a:t>
            </a:r>
            <a:r>
              <a:rPr lang="en-ID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paling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Berapa</a:t>
            </a:r>
            <a:r>
              <a:rPr lang="en-ID" dirty="0"/>
              <a:t> rata-rata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Kota mana </a:t>
            </a:r>
            <a:r>
              <a:rPr lang="en-ID" dirty="0" err="1"/>
              <a:t>dengan</a:t>
            </a:r>
            <a:r>
              <a:rPr lang="en-ID" dirty="0"/>
              <a:t> spending </a:t>
            </a:r>
            <a:r>
              <a:rPr lang="en-ID" dirty="0" err="1"/>
              <a:t>tertinggi</a:t>
            </a:r>
            <a:r>
              <a:rPr lang="en-ID" dirty="0"/>
              <a:t>?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revenue dan quantity?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EBE91-A230-46E8-805B-92E7E2792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954772" y="1604761"/>
            <a:ext cx="3657600" cy="266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1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766739" y="419163"/>
            <a:ext cx="4475112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/>
              <a:t>Dataset Overview</a:t>
            </a:r>
            <a:endParaRPr sz="28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851799" y="1034686"/>
            <a:ext cx="3720201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D" dirty="0"/>
              <a:t>Dataset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4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Customer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Orders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Product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Product Category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C0A37-5517-42B1-BC91-F8265C724A65}"/>
              </a:ext>
            </a:extLst>
          </p:cNvPr>
          <p:cNvSpPr txBox="1"/>
          <p:nvPr/>
        </p:nvSpPr>
        <p:spPr>
          <a:xfrm>
            <a:off x="5049273" y="1034686"/>
            <a:ext cx="33279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Data </a:t>
            </a:r>
            <a:r>
              <a:rPr lang="en-ID" dirty="0" err="1"/>
              <a:t>kemudian</a:t>
            </a:r>
            <a:r>
              <a:rPr lang="en-ID" dirty="0"/>
              <a:t> </a:t>
            </a:r>
            <a:r>
              <a:rPr lang="en-ID" dirty="0" err="1"/>
              <a:t>digabungkan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b="1" dirty="0" err="1"/>
              <a:t>Tabel</a:t>
            </a:r>
            <a:r>
              <a:rPr lang="en-ID" b="1" dirty="0"/>
              <a:t> Utama </a:t>
            </a:r>
            <a:r>
              <a:rPr lang="en-ID" dirty="0" err="1"/>
              <a:t>berisi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Order ID &amp; Order 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Customer City &amp; Email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Product &amp; Category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Quantity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Total 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7DCE4-BE0D-40D6-B1B4-70778418B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66738" y="2547973"/>
            <a:ext cx="3327991" cy="227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25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851799" y="456275"/>
            <a:ext cx="4475112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800" dirty="0"/>
              <a:t>Data Preparation</a:t>
            </a:r>
            <a:endParaRPr sz="28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851799" y="1071798"/>
            <a:ext cx="3720201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D" dirty="0"/>
              <a:t>Langkah yang </a:t>
            </a:r>
            <a:r>
              <a:rPr lang="en-ID" dirty="0" err="1"/>
              <a:t>dilakukan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Data cleaning &amp; validation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Join 4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mTabel</a:t>
            </a:r>
            <a:r>
              <a:rPr lang="en-ID" dirty="0"/>
              <a:t> Utama</a:t>
            </a:r>
          </a:p>
          <a:p>
            <a:endParaRPr lang="en-ID" dirty="0"/>
          </a:p>
          <a:p>
            <a:r>
              <a:rPr lang="en-ID" dirty="0" err="1"/>
              <a:t>Membuat</a:t>
            </a:r>
            <a:r>
              <a:rPr lang="en-ID" dirty="0"/>
              <a:t> calculated metrics: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Total 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Average Order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Average Quantity per Order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Aggregasi</a:t>
            </a:r>
            <a:r>
              <a:rPr lang="en-ID" dirty="0"/>
              <a:t>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dashboard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94F5A0-AAE3-426A-8C88-C525BDC856B0}"/>
              </a:ext>
            </a:extLst>
          </p:cNvPr>
          <p:cNvSpPr txBox="1"/>
          <p:nvPr/>
        </p:nvSpPr>
        <p:spPr>
          <a:xfrm>
            <a:off x="4763389" y="1203963"/>
            <a:ext cx="35288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Tools Used</a:t>
            </a:r>
            <a:endParaRPr lang="en-ID" dirty="0"/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SQL</a:t>
            </a:r>
            <a:r>
              <a:rPr lang="en-ID" dirty="0"/>
              <a:t> → </a:t>
            </a:r>
            <a:r>
              <a:rPr lang="en-ID" dirty="0" err="1"/>
              <a:t>Transformasi</a:t>
            </a:r>
            <a:r>
              <a:rPr lang="en-ID" dirty="0"/>
              <a:t> &amp; </a:t>
            </a:r>
            <a:r>
              <a:rPr lang="en-ID" dirty="0" err="1"/>
              <a:t>agregasi</a:t>
            </a:r>
            <a:r>
              <a:rPr lang="en-ID" dirty="0"/>
              <a:t>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Google </a:t>
            </a:r>
            <a:r>
              <a:rPr lang="en-ID" b="1" dirty="0" err="1"/>
              <a:t>BigQuery</a:t>
            </a:r>
            <a:r>
              <a:rPr lang="en-ID" dirty="0"/>
              <a:t> → Data warehouse &amp; query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b="1" dirty="0"/>
              <a:t>Looker Studio</a:t>
            </a:r>
            <a:r>
              <a:rPr lang="en-ID" dirty="0"/>
              <a:t> → Data visualization &amp;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A39161-B8E9-414C-970A-2624648DD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827783" y="2728033"/>
            <a:ext cx="3532064" cy="195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2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44D4-6A19-435F-8527-AF3EB18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00" y="218474"/>
            <a:ext cx="3999900" cy="572700"/>
          </a:xfrm>
        </p:spPr>
        <p:txBody>
          <a:bodyPr>
            <a:noAutofit/>
          </a:bodyPr>
          <a:lstStyle/>
          <a:p>
            <a:r>
              <a:rPr lang="en-ID" sz="2400" dirty="0"/>
              <a:t>Dashboard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5CB5C-8D4A-476A-8C48-BA98DE31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8100" y="3540642"/>
            <a:ext cx="3590449" cy="1028233"/>
          </a:xfrm>
        </p:spPr>
        <p:txBody>
          <a:bodyPr>
            <a:normAutofit fontScale="77500" lnSpcReduction="20000"/>
          </a:bodyPr>
          <a:lstStyle/>
          <a:p>
            <a:pPr marL="139700" indent="0">
              <a:buNone/>
            </a:pPr>
            <a:r>
              <a:rPr lang="en-US" b="1" dirty="0"/>
              <a:t>Page 1 — Executive Overview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 </a:t>
            </a:r>
            <a:r>
              <a:rPr lang="en-US" dirty="0" err="1"/>
              <a:t>utama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Revenue by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Trend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by City</a:t>
            </a:r>
          </a:p>
          <a:p>
            <a:pPr marL="139700" indent="0">
              <a:buNone/>
            </a:pP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88627-D22B-4595-A80E-85A0F64DDC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3540641"/>
            <a:ext cx="3999900" cy="1028234"/>
          </a:xfrm>
        </p:spPr>
        <p:txBody>
          <a:bodyPr>
            <a:normAutofit fontScale="77500" lnSpcReduction="20000"/>
          </a:bodyPr>
          <a:lstStyle/>
          <a:p>
            <a:pPr marL="139700" indent="0">
              <a:buNone/>
            </a:pPr>
            <a:r>
              <a:rPr lang="en-US" b="1" dirty="0"/>
              <a:t>Page 2 — Product &amp; Customer Insights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Products by 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Purchased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Spending by City</a:t>
            </a:r>
          </a:p>
          <a:p>
            <a:pPr marL="139700" indent="0">
              <a:buNone/>
            </a:pP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4D120-D0CD-4317-A57E-D07E4F050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00" y="860976"/>
            <a:ext cx="3047099" cy="2540062"/>
          </a:xfrm>
          <a:prstGeom prst="rect">
            <a:avLst/>
          </a:prstGeom>
        </p:spPr>
      </p:pic>
      <p:pic>
        <p:nvPicPr>
          <p:cNvPr id="7" name="Google Shape;97;p16">
            <a:extLst>
              <a:ext uri="{FF2B5EF4-FFF2-40B4-BE49-F238E27FC236}">
                <a16:creationId xmlns:a16="http://schemas.microsoft.com/office/drawing/2014/main" id="{F56B3B2D-AF8A-4C48-A022-821E0DB7A5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662D78-CD0E-46C7-8806-B4247A4688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82"/>
          <a:stretch/>
        </p:blipFill>
        <p:spPr>
          <a:xfrm>
            <a:off x="5102337" y="832131"/>
            <a:ext cx="3253563" cy="25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5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44D4-6A19-435F-8527-AF3EB18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00" y="651234"/>
            <a:ext cx="3999900" cy="572700"/>
          </a:xfrm>
        </p:spPr>
        <p:txBody>
          <a:bodyPr>
            <a:noAutofit/>
          </a:bodyPr>
          <a:lstStyle/>
          <a:p>
            <a:r>
              <a:rPr lang="en-ID" sz="2400" dirty="0"/>
              <a:t>Key Performance Indicators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5CB5C-8D4A-476A-8C48-BA98DE31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5235" y="2487312"/>
            <a:ext cx="4121435" cy="1738907"/>
          </a:xfrm>
        </p:spPr>
        <p:txBody>
          <a:bodyPr>
            <a:normAutofit fontScale="92500" lnSpcReduction="10000"/>
          </a:bodyPr>
          <a:lstStyle/>
          <a:p>
            <a:pPr marL="139700" indent="0">
              <a:buNone/>
            </a:pPr>
            <a:r>
              <a:rPr lang="en-ID" dirty="0"/>
              <a:t>Dashboard </a:t>
            </a:r>
            <a:r>
              <a:rPr lang="en-ID" dirty="0" err="1"/>
              <a:t>menampilkan</a:t>
            </a:r>
            <a:r>
              <a:rPr lang="en-ID" dirty="0"/>
              <a:t> KPI </a:t>
            </a:r>
            <a:r>
              <a:rPr lang="en-ID" dirty="0" err="1"/>
              <a:t>utama</a:t>
            </a:r>
            <a:r>
              <a:rPr lang="en-ID" dirty="0"/>
              <a:t>:</a:t>
            </a:r>
          </a:p>
          <a:p>
            <a:r>
              <a:rPr lang="en-ID" dirty="0"/>
              <a:t>Unique Product Sold </a:t>
            </a:r>
          </a:p>
          <a:p>
            <a:r>
              <a:rPr lang="en-ID" dirty="0"/>
              <a:t>Average Order Value </a:t>
            </a:r>
          </a:p>
          <a:p>
            <a:r>
              <a:rPr lang="en-ID" dirty="0"/>
              <a:t>Average Quantity per Order </a:t>
            </a:r>
          </a:p>
          <a:p>
            <a:pPr marL="139700" indent="0">
              <a:buNone/>
            </a:pPr>
            <a:endParaRPr lang="en-ID" dirty="0"/>
          </a:p>
          <a:p>
            <a:pPr marL="139700" indent="0">
              <a:buNone/>
            </a:pPr>
            <a:r>
              <a:rPr lang="en-ID" dirty="0"/>
              <a:t>KPI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gambaran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.</a:t>
            </a:r>
          </a:p>
        </p:txBody>
      </p:sp>
      <p:pic>
        <p:nvPicPr>
          <p:cNvPr id="7" name="Google Shape;97;p16">
            <a:extLst>
              <a:ext uri="{FF2B5EF4-FFF2-40B4-BE49-F238E27FC236}">
                <a16:creationId xmlns:a16="http://schemas.microsoft.com/office/drawing/2014/main" id="{F56B3B2D-AF8A-4C48-A022-821E0DB7A5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662D78-CD0E-46C7-8806-B4247A4688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659" r="46039" b="75404"/>
          <a:stretch/>
        </p:blipFill>
        <p:spPr>
          <a:xfrm>
            <a:off x="788100" y="1406638"/>
            <a:ext cx="4522170" cy="90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43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44D4-6A19-435F-8527-AF3EB18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00" y="651234"/>
            <a:ext cx="3999900" cy="572700"/>
          </a:xfrm>
        </p:spPr>
        <p:txBody>
          <a:bodyPr>
            <a:noAutofit/>
          </a:bodyPr>
          <a:lstStyle/>
          <a:p>
            <a:r>
              <a:rPr lang="en-ID" sz="2400" dirty="0"/>
              <a:t>Insights Generated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5CB5C-8D4A-476A-8C48-BA98DE31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8100" y="1223934"/>
            <a:ext cx="4121435" cy="1738907"/>
          </a:xfrm>
        </p:spPr>
        <p:txBody>
          <a:bodyPr>
            <a:normAutofit fontScale="92500" lnSpcReduction="20000"/>
          </a:bodyPr>
          <a:lstStyle/>
          <a:p>
            <a:pPr marL="139700" indent="0">
              <a:buNone/>
            </a:pPr>
            <a:r>
              <a:rPr lang="en-ID" dirty="0" err="1"/>
              <a:t>Beberapa</a:t>
            </a:r>
            <a:r>
              <a:rPr lang="en-ID" dirty="0"/>
              <a:t> insight yang </a:t>
            </a:r>
            <a:r>
              <a:rPr lang="en-ID" dirty="0" err="1"/>
              <a:t>ditemukan</a:t>
            </a:r>
            <a:r>
              <a:rPr lang="en-ID" dirty="0"/>
              <a:t>:</a:t>
            </a:r>
          </a:p>
          <a:p>
            <a:r>
              <a:rPr lang="en-ID" dirty="0"/>
              <a:t>Revenue </a:t>
            </a:r>
            <a:r>
              <a:rPr lang="en-ID" dirty="0" err="1"/>
              <a:t>terkonsentrasi</a:t>
            </a:r>
            <a:r>
              <a:rPr lang="en-ID" dirty="0"/>
              <a:t> pada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</a:p>
          <a:p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quantity </a:t>
            </a:r>
            <a:r>
              <a:rPr lang="en-ID" dirty="0" err="1"/>
              <a:t>tertinggi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revenue </a:t>
            </a:r>
            <a:r>
              <a:rPr lang="en-ID" dirty="0" err="1"/>
              <a:t>tertinggi</a:t>
            </a:r>
            <a:r>
              <a:rPr lang="en-ID" dirty="0"/>
              <a:t> </a:t>
            </a:r>
          </a:p>
          <a:p>
            <a:r>
              <a:rPr lang="en-ID" dirty="0"/>
              <a:t>Spending customer </a:t>
            </a:r>
            <a:r>
              <a:rPr lang="en-ID" dirty="0" err="1"/>
              <a:t>berbeda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kota</a:t>
            </a:r>
            <a:r>
              <a:rPr lang="en-ID" dirty="0"/>
              <a:t> </a:t>
            </a:r>
          </a:p>
          <a:p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optimasi</a:t>
            </a:r>
            <a:r>
              <a:rPr lang="en-ID" dirty="0"/>
              <a:t> pricing &amp; marketing</a:t>
            </a:r>
          </a:p>
        </p:txBody>
      </p:sp>
      <p:pic>
        <p:nvPicPr>
          <p:cNvPr id="7" name="Google Shape;97;p16">
            <a:extLst>
              <a:ext uri="{FF2B5EF4-FFF2-40B4-BE49-F238E27FC236}">
                <a16:creationId xmlns:a16="http://schemas.microsoft.com/office/drawing/2014/main" id="{F56B3B2D-AF8A-4C48-A022-821E0DB7A5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65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44D4-6A19-435F-8527-AF3EB18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00" y="651234"/>
            <a:ext cx="3999900" cy="572700"/>
          </a:xfrm>
        </p:spPr>
        <p:txBody>
          <a:bodyPr>
            <a:noAutofit/>
          </a:bodyPr>
          <a:lstStyle/>
          <a:p>
            <a:r>
              <a:rPr lang="en-ID" sz="2400" dirty="0"/>
              <a:t>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5CB5C-8D4A-476A-8C48-BA98DE31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8100" y="1223934"/>
            <a:ext cx="4121435" cy="1738907"/>
          </a:xfrm>
        </p:spPr>
        <p:txBody>
          <a:bodyPr>
            <a:normAutofit fontScale="92500"/>
          </a:bodyPr>
          <a:lstStyle/>
          <a:p>
            <a:pPr marL="139700" indent="0">
              <a:buNone/>
            </a:pPr>
            <a:r>
              <a:rPr lang="en-ID" dirty="0"/>
              <a:t>Dashboard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stakeholder </a:t>
            </a:r>
            <a:r>
              <a:rPr lang="en-ID" dirty="0" err="1"/>
              <a:t>untuk</a:t>
            </a:r>
            <a:r>
              <a:rPr lang="en-ID" dirty="0"/>
              <a:t>:</a:t>
            </a:r>
          </a:p>
          <a:p>
            <a:r>
              <a:rPr lang="en-ID" dirty="0"/>
              <a:t>Monitoring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real-time </a:t>
            </a:r>
          </a:p>
          <a:p>
            <a:r>
              <a:rPr lang="en-ID" dirty="0" err="1"/>
              <a:t>Menentukan</a:t>
            </a:r>
            <a:r>
              <a:rPr lang="en-ID" dirty="0"/>
              <a:t> strategi marketing </a:t>
            </a:r>
            <a:r>
              <a:rPr lang="en-ID" dirty="0" err="1"/>
              <a:t>berbasis</a:t>
            </a:r>
            <a:r>
              <a:rPr lang="en-ID" dirty="0"/>
              <a:t> data </a:t>
            </a:r>
          </a:p>
          <a:p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unggulan</a:t>
            </a:r>
            <a:r>
              <a:rPr lang="en-ID" dirty="0"/>
              <a:t> </a:t>
            </a:r>
          </a:p>
          <a:p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customer</a:t>
            </a:r>
          </a:p>
        </p:txBody>
      </p:sp>
      <p:pic>
        <p:nvPicPr>
          <p:cNvPr id="7" name="Google Shape;97;p16">
            <a:extLst>
              <a:ext uri="{FF2B5EF4-FFF2-40B4-BE49-F238E27FC236}">
                <a16:creationId xmlns:a16="http://schemas.microsoft.com/office/drawing/2014/main" id="{F56B3B2D-AF8A-4C48-A022-821E0DB7A5A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19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340500" y="1899838"/>
            <a:ext cx="8463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latin typeface="Rubik"/>
                <a:ea typeface="Rubik"/>
                <a:cs typeface="Rubik"/>
                <a:sym typeface="Rubik"/>
              </a:rPr>
              <a:t>Insert Your Link Here</a:t>
            </a:r>
            <a:endParaRPr sz="4500" b="1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340500" y="2843463"/>
            <a:ext cx="837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You can add </a:t>
            </a:r>
            <a:r>
              <a:rPr lang="en" b="1">
                <a:latin typeface="Rubik"/>
                <a:ea typeface="Rubik"/>
                <a:cs typeface="Rubik"/>
                <a:sym typeface="Rubik"/>
              </a:rPr>
              <a:t>link GitHub / Coda / Figma </a:t>
            </a:r>
            <a:r>
              <a:rPr lang="en">
                <a:latin typeface="Rubik"/>
                <a:ea typeface="Rubik"/>
                <a:cs typeface="Rubik"/>
                <a:sym typeface="Rubik"/>
              </a:rPr>
              <a:t>also (optional)</a:t>
            </a:r>
            <a:endParaRPr i="1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340500" y="1899838"/>
            <a:ext cx="8463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6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latin typeface="Rubik"/>
                <a:ea typeface="Rubik"/>
                <a:cs typeface="Rubik"/>
                <a:sym typeface="Rubik"/>
              </a:rPr>
              <a:t>Video Presentation Here</a:t>
            </a:r>
            <a:endParaRPr sz="5000" b="1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4">
            <a:alphaModFix/>
          </a:blip>
          <a:srcRect t="5659" b="5650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340500" y="2843463"/>
            <a:ext cx="837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"/>
                <a:ea typeface="Rubik"/>
                <a:cs typeface="Rubik"/>
                <a:sym typeface="Rubik"/>
              </a:rPr>
              <a:t>Please insert your link video here (You can upload the video on YouTube or Google Drive first)!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871775" y="4301225"/>
            <a:ext cx="1538100" cy="541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rPr>
              <a:t>Logo Company</a:t>
            </a:r>
            <a:endParaRPr>
              <a:solidFill>
                <a:schemeClr val="lt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On-screen Show (16:9)</PresentationFormat>
  <Paragraphs>97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Rubik Medium</vt:lpstr>
      <vt:lpstr>Rubik</vt:lpstr>
      <vt:lpstr>Rubik SemiBold</vt:lpstr>
      <vt:lpstr>Rubik Light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Structure</vt:lpstr>
      <vt:lpstr>Key Performance Indicators</vt:lpstr>
      <vt:lpstr>Insights Generated</vt:lpstr>
      <vt:lpstr>Business Impact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Lenovo</cp:lastModifiedBy>
  <cp:revision>1</cp:revision>
  <dcterms:modified xsi:type="dcterms:W3CDTF">2026-05-02T14:30:56Z</dcterms:modified>
</cp:coreProperties>
</file>